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B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07E05-0649-C843-8080-A64833DF4354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82344-C0FB-2142-BECD-8EA052E285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26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974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68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A78CB-36F9-23EB-4882-5D790DB8A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060335-0DBC-6FDB-9DCA-E688562C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5F43E5-0085-4551-6907-CAF2FE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BCDE67-37D0-6DEE-47C5-BABD6C6E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A61AC-E0E3-57B8-72AD-CBC28CFA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93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94E3B-BFDE-4A74-F890-9DC4DED9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058042-5A96-4614-BC2A-186C7857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EF1E9-A652-1FEA-DBD3-11FA183F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05199C-0E94-F440-3FD3-AB9AED57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966DD-D4CF-EE60-B7EF-BAF45735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26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72ACB-C2EA-8D9C-5785-92CDF4A0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C3CC0B-7549-54C5-CCBA-732539AB7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EC939-1829-BBB8-43F7-E24A84D0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ACAE73-7526-6AB3-B2F0-9570B6E3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9DC11-B783-D62D-B223-42690FF4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37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D1A7B-2871-81C2-A317-2E2A47D5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0046C6-C524-1F09-8BB1-6D141E45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C5FFD0-F8B9-9BC7-C753-84A0957E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B7B1C-022D-1BB1-4D2B-E4A76DBB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213CD7-CA57-0C18-9CDB-D0E25AC4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EA6A33-7003-BAB3-BBFC-A1CFD919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10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61095-AF02-C850-8F89-26A2D5CB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CD7461-58DE-E76B-331D-DD8510C5A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5D3C6B-2C36-4025-B270-F37413C6A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EC26F5-6EEB-F132-C187-1D8A22D76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01E926-8AC5-1B5B-AB2F-0C9EBC604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1F8E6B-54A1-7BEB-C8B8-F7B8BB65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23B959-F2F1-4355-EE9A-A2382961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3F7D3-A4E0-5B7E-6E51-9CBF6A8F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13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3C89F-5C91-EC2E-861A-7131C340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1953FA-4CDD-5046-A059-9E174714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41742ED-1718-4070-39EE-F23C443C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AF81CC-4917-FC71-F651-42EF50D4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2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41012F-82F6-D18C-933C-52502AC4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7A1A1A-A05C-0BF6-ADDF-A3400BA1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674C5E-04D2-2E73-64F4-5BC03A24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8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B5D5C-E791-9182-C037-6FAE1062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86E9F-3165-8B96-FA2D-32E5B018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22EB39-5AD3-3113-D191-BAFA1D84A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674C7-2D33-168F-308D-9CEA1190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10597-2F41-4415-A133-7F4C3476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EC3B8E-2F6E-26DA-C675-98E7B80E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23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E395A-DE45-A4DE-1C01-70696637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074096-FD96-CCEE-BE91-1B727DAD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2DA752-4BB6-2092-A7FB-7167B8D79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D57855-A67D-2167-84D8-3F7B8502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42D9EF-2877-24A8-6C8F-E631DF27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3F6852-981C-DCA7-1D75-0EC2A27B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65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AB5DA-058D-8E0F-CB22-8E6EFEE0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1D061E-281C-B33B-A787-A99AF1C6B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27727A-34D8-7D95-81E8-430FDBA8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F39552-7A3C-81E6-43BC-3683BA99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7CC89D-57A1-4C46-18E9-BE55C23D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1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07B120-B985-32D6-1BB2-833148C1F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DB87EE-E7D5-E02F-863F-FCD31520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9720F-F715-BF69-122E-40FF00B6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50873-4153-3839-9CAA-ABCFC13A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4CE501-FE24-F245-A9B4-40F860CD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9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38D091-8B16-9B4F-B11D-C49E6A10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5410A4-6C0F-986D-607A-0EAEBFBBF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D76384-847F-FEEE-2766-B8E75B767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CBCA39-1341-8F59-7E26-0A7284F6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39D0D-C9E2-E243-34D0-CDDCB614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12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BA1F90-D065-4366-A6FD-92F8F740E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179" y="2007083"/>
            <a:ext cx="6755642" cy="2393375"/>
          </a:xfrm>
        </p:spPr>
        <p:txBody>
          <a:bodyPr anchor="b">
            <a:normAutofit lnSpcReduction="10000"/>
          </a:bodyPr>
          <a:lstStyle/>
          <a:p>
            <a:r>
              <a:rPr kumimoji="1" lang="ja-JP" altLang="en-US" sz="3600" b="1">
                <a:solidFill>
                  <a:srgbClr val="FFFFFF"/>
                </a:solidFill>
              </a:rPr>
              <a:t>グループ１３</a:t>
            </a:r>
            <a:endParaRPr kumimoji="1" lang="en-US" altLang="ja-JP" sz="3600" b="1">
              <a:solidFill>
                <a:srgbClr val="FFFFFF"/>
              </a:solidFill>
            </a:endParaRPr>
          </a:p>
          <a:p>
            <a:endParaRPr kumimoji="1" lang="en-US" altLang="ja-JP" sz="3600" b="1">
              <a:solidFill>
                <a:srgbClr val="FFFFFF"/>
              </a:solidFill>
            </a:endParaRPr>
          </a:p>
          <a:p>
            <a:r>
              <a:rPr lang="ja-JP" altLang="en-US" sz="8800" b="1">
                <a:solidFill>
                  <a:srgbClr val="FFFFFF"/>
                </a:solidFill>
              </a:rPr>
              <a:t>中間発表</a:t>
            </a:r>
            <a:endParaRPr kumimoji="1" lang="ja-JP" altLang="en-US" sz="8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8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906A77-D526-8BBF-D66A-06AB87CE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799" y="1411404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要求仕様</a:t>
            </a:r>
          </a:p>
        </p:txBody>
      </p:sp>
    </p:spTree>
    <p:extLst>
      <p:ext uri="{BB962C8B-B14F-4D97-AF65-F5344CB8AC3E}">
        <p14:creationId xmlns:p14="http://schemas.microsoft.com/office/powerpoint/2010/main" val="37156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E1B1297-6FBD-82E5-D515-FE8599AD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795370"/>
            <a:ext cx="9895951" cy="750165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システムの概要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D3810D-43C5-85F8-304A-B7B260443F32}"/>
              </a:ext>
            </a:extLst>
          </p:cNvPr>
          <p:cNvSpPr txBox="1"/>
          <p:nvPr/>
        </p:nvSpPr>
        <p:spPr>
          <a:xfrm>
            <a:off x="2059770" y="1960154"/>
            <a:ext cx="8093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400">
                <a:ea typeface="+mj-ea"/>
              </a:rPr>
              <a:t>LINE Bot・Nature Remo 3</a:t>
            </a:r>
            <a:r>
              <a:rPr lang="ja-JP" altLang="ja-JP" sz="2400" b="1">
                <a:ea typeface="+mj-ea"/>
              </a:rPr>
              <a:t>を連携し、</a:t>
            </a:r>
            <a:endParaRPr lang="en-US" altLang="ja-JP" sz="2400" b="1">
              <a:ea typeface="+mj-ea"/>
            </a:endParaRPr>
          </a:p>
          <a:p>
            <a:r>
              <a:rPr lang="ja-JP" altLang="ja-JP" sz="2400" b="1">
                <a:ea typeface="+mj-ea"/>
              </a:rPr>
              <a:t>ユーザーの就寝から起床までの生活を自動的に支援する</a:t>
            </a:r>
            <a:r>
              <a:rPr lang="ja-JP" altLang="ja-JP" sz="2400">
                <a:ea typeface="+mj-ea"/>
              </a:rPr>
              <a:t>。</a:t>
            </a:r>
            <a:endParaRPr kumimoji="1" lang="ja-JP" altLang="en-US" sz="2400">
              <a:ea typeface="+mj-ea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302964-3F1F-1B40-D0CF-81470400D7F1}"/>
              </a:ext>
            </a:extLst>
          </p:cNvPr>
          <p:cNvSpPr/>
          <p:nvPr/>
        </p:nvSpPr>
        <p:spPr>
          <a:xfrm>
            <a:off x="5399146" y="3215546"/>
            <a:ext cx="120967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Nature Remo 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2C0333A-77C0-3A71-CCFB-8E97C376FD66}"/>
              </a:ext>
            </a:extLst>
          </p:cNvPr>
          <p:cNvSpPr/>
          <p:nvPr/>
        </p:nvSpPr>
        <p:spPr>
          <a:xfrm>
            <a:off x="3175010" y="3215546"/>
            <a:ext cx="1290639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家電制御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CD7901D-8A54-D827-4859-06ECBE55BE84}"/>
              </a:ext>
            </a:extLst>
          </p:cNvPr>
          <p:cNvSpPr/>
          <p:nvPr/>
        </p:nvSpPr>
        <p:spPr>
          <a:xfrm>
            <a:off x="7503809" y="3215546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LINE</a:t>
            </a:r>
            <a:r>
              <a:rPr kumimoji="1" lang="ja-JP" altLang="en-US">
                <a:solidFill>
                  <a:schemeClr val="tx1"/>
                </a:solidFill>
              </a:rPr>
              <a:t>へ通知</a:t>
            </a:r>
          </a:p>
        </p:txBody>
      </p:sp>
      <p:sp>
        <p:nvSpPr>
          <p:cNvPr id="17" name="吹き出し: 円形 16">
            <a:extLst>
              <a:ext uri="{FF2B5EF4-FFF2-40B4-BE49-F238E27FC236}">
                <a16:creationId xmlns:a16="http://schemas.microsoft.com/office/drawing/2014/main" id="{0CC9A43B-8F6A-ABA2-48DA-F74AB64A5C86}"/>
              </a:ext>
            </a:extLst>
          </p:cNvPr>
          <p:cNvSpPr/>
          <p:nvPr/>
        </p:nvSpPr>
        <p:spPr>
          <a:xfrm>
            <a:off x="4191324" y="4673136"/>
            <a:ext cx="1952625" cy="1000125"/>
          </a:xfrm>
          <a:prstGeom prst="wedgeEllipseCallout">
            <a:avLst>
              <a:gd name="adj1" fmla="val 36538"/>
              <a:gd name="adj2" fmla="val -74292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環境データ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取得・判定</a:t>
            </a:r>
          </a:p>
          <a:p>
            <a:pPr algn="ctr"/>
            <a:endParaRPr kumimoji="1" lang="ja-JP" altLang="en-US"/>
          </a:p>
        </p:txBody>
      </p:sp>
      <p:sp>
        <p:nvSpPr>
          <p:cNvPr id="20" name="矢印: 左 19">
            <a:extLst>
              <a:ext uri="{FF2B5EF4-FFF2-40B4-BE49-F238E27FC236}">
                <a16:creationId xmlns:a16="http://schemas.microsoft.com/office/drawing/2014/main" id="{585B2702-A4DE-B1C1-3AF9-B4C16C537E32}"/>
              </a:ext>
            </a:extLst>
          </p:cNvPr>
          <p:cNvSpPr/>
          <p:nvPr/>
        </p:nvSpPr>
        <p:spPr>
          <a:xfrm rot="10800000">
            <a:off x="6488579" y="3645645"/>
            <a:ext cx="1209674" cy="23845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左 25">
            <a:extLst>
              <a:ext uri="{FF2B5EF4-FFF2-40B4-BE49-F238E27FC236}">
                <a16:creationId xmlns:a16="http://schemas.microsoft.com/office/drawing/2014/main" id="{3DC29BC4-1914-1EE9-2975-3C3988EB7F92}"/>
              </a:ext>
            </a:extLst>
          </p:cNvPr>
          <p:cNvSpPr/>
          <p:nvPr/>
        </p:nvSpPr>
        <p:spPr>
          <a:xfrm>
            <a:off x="4315752" y="3645645"/>
            <a:ext cx="1209675" cy="23845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46891598-077A-D73D-B432-92AD31F4C3C4}"/>
              </a:ext>
            </a:extLst>
          </p:cNvPr>
          <p:cNvSpPr/>
          <p:nvPr/>
        </p:nvSpPr>
        <p:spPr>
          <a:xfrm>
            <a:off x="7503809" y="4886325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天気情報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カレンダー</a:t>
            </a:r>
          </a:p>
        </p:txBody>
      </p:sp>
      <p:sp>
        <p:nvSpPr>
          <p:cNvPr id="30" name="矢印: 左 29">
            <a:extLst>
              <a:ext uri="{FF2B5EF4-FFF2-40B4-BE49-F238E27FC236}">
                <a16:creationId xmlns:a16="http://schemas.microsoft.com/office/drawing/2014/main" id="{051E83CA-6289-9363-FE91-D224A76ECC9D}"/>
              </a:ext>
            </a:extLst>
          </p:cNvPr>
          <p:cNvSpPr/>
          <p:nvPr/>
        </p:nvSpPr>
        <p:spPr>
          <a:xfrm rot="5400000">
            <a:off x="7935971" y="4520221"/>
            <a:ext cx="846359" cy="17649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左 31">
            <a:extLst>
              <a:ext uri="{FF2B5EF4-FFF2-40B4-BE49-F238E27FC236}">
                <a16:creationId xmlns:a16="http://schemas.microsoft.com/office/drawing/2014/main" id="{389A0492-E9F7-AA3A-5192-9ADDF62C0FFD}"/>
              </a:ext>
            </a:extLst>
          </p:cNvPr>
          <p:cNvSpPr/>
          <p:nvPr/>
        </p:nvSpPr>
        <p:spPr>
          <a:xfrm rot="16200000">
            <a:off x="8107422" y="4540635"/>
            <a:ext cx="846357" cy="17649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エアコンを付けて寝る人のイラスト">
            <a:extLst>
              <a:ext uri="{FF2B5EF4-FFF2-40B4-BE49-F238E27FC236}">
                <a16:creationId xmlns:a16="http://schemas.microsoft.com/office/drawing/2014/main" id="{A3F09B50-8591-2D5C-BDC2-D181C2CC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1" y="3032364"/>
            <a:ext cx="3200170" cy="320017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2B6A1CA-F54B-6AA2-9880-4A46AC353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774" y="5031647"/>
            <a:ext cx="1571408" cy="157140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153E857-7163-C37F-7596-FF4FF4A76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962" y="4035132"/>
            <a:ext cx="1003429" cy="101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3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9AEA5D-D896-599F-C0F5-96F8BCEB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要求仕様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30F93E-7C7E-5C93-EA42-3439E5F5752F}"/>
              </a:ext>
            </a:extLst>
          </p:cNvPr>
          <p:cNvSpPr txBox="1"/>
          <p:nvPr/>
        </p:nvSpPr>
        <p:spPr>
          <a:xfrm>
            <a:off x="1291449" y="2012622"/>
            <a:ext cx="1005625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ユーザーはLINEから起床時間・就寝時間を設定できること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就寝時は照明を段階的に暗くし、起床時は明るくすること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6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システムは5分ごとに室内の温度・湿度・照度を</a:t>
            </a:r>
            <a:r>
              <a:rPr lang="ja-JP" altLang="en-US" sz="2400" dirty="0">
                <a:ea typeface="BIZ UDゴシック" panose="020B0400000000000000" pitchFamily="49" charset="-128"/>
              </a:rPr>
              <a:t>記録し、</a:t>
            </a:r>
            <a:r>
              <a:rPr lang="ja-JP" altLang="ja-JP" sz="2400" dirty="0">
                <a:ea typeface="BIZ UDゴシック" panose="020B0400000000000000" pitchFamily="49" charset="-128"/>
              </a:rPr>
              <a:t>取得データをもとにエアコンを自動制御すること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翌日の天気情報・Googleカレンダーの予定をLINEで通知すること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過去データをもとに睡眠アドバイスを提示すること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起床時刻になると通知を送信し、停止操作を行うまで繰り返し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r>
              <a:rPr lang="ja-JP" altLang="en-US" sz="2400" dirty="0">
                <a:ea typeface="BIZ UDゴシック" panose="020B0400000000000000" pitchFamily="49" charset="-128"/>
              </a:rPr>
              <a:t>　</a:t>
            </a:r>
            <a:r>
              <a:rPr lang="ja-JP" altLang="ja-JP" sz="2400" dirty="0">
                <a:ea typeface="BIZ UDゴシック" panose="020B0400000000000000" pitchFamily="49" charset="-128"/>
              </a:rPr>
              <a:t>通知すること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038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C2D1753-BA58-CC8E-4430-EB4AC209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想定する利用者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F1AC4B-0CB4-53DE-BD65-DEC1D4D81E1D}"/>
              </a:ext>
            </a:extLst>
          </p:cNvPr>
          <p:cNvSpPr txBox="1"/>
          <p:nvPr/>
        </p:nvSpPr>
        <p:spPr>
          <a:xfrm>
            <a:off x="1466849" y="2188383"/>
            <a:ext cx="8567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>
                <a:ea typeface="BIZ UDPゴシック" panose="020B0400000000000000" pitchFamily="50" charset="-128"/>
              </a:rPr>
              <a:t>日常的にLINEを使用している</a:t>
            </a:r>
            <a:r>
              <a:rPr lang="ja-JP" altLang="en-US" sz="2800">
                <a:ea typeface="BIZ UDPゴシック" panose="020B0400000000000000" pitchFamily="50" charset="-128"/>
              </a:rPr>
              <a:t>全ての</a:t>
            </a:r>
            <a:r>
              <a:rPr lang="ja-JP" altLang="ja-JP" sz="2800">
                <a:ea typeface="BIZ UDPゴシック" panose="020B0400000000000000" pitchFamily="50" charset="-128"/>
              </a:rPr>
              <a:t>ユーザー</a:t>
            </a:r>
            <a:r>
              <a:rPr lang="ja-JP" altLang="en-US" sz="2800">
                <a:ea typeface="BIZ UDPゴシック" panose="020B0400000000000000" pitchFamily="50" charset="-128"/>
              </a:rPr>
              <a:t>が</a:t>
            </a:r>
            <a:r>
              <a:rPr lang="ja-JP" altLang="ja-JP" sz="2800">
                <a:ea typeface="BIZ UDPゴシック" panose="020B0400000000000000" pitchFamily="50" charset="-128"/>
              </a:rPr>
              <a:t>対象</a:t>
            </a:r>
            <a:endParaRPr kumimoji="1" lang="ja-JP" altLang="en-US" sz="2800"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1B55F8-D3BD-55E0-4C73-3C8245D65F40}"/>
              </a:ext>
            </a:extLst>
          </p:cNvPr>
          <p:cNvSpPr txBox="1"/>
          <p:nvPr/>
        </p:nvSpPr>
        <p:spPr>
          <a:xfrm>
            <a:off x="2028562" y="2979092"/>
            <a:ext cx="115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ea typeface="BIZ UDPゴシック" panose="020B0400000000000000" pitchFamily="50" charset="-128"/>
              </a:rPr>
              <a:t>特に、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73CB789-DF2D-85C3-1FF9-800643E4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627" y="4848403"/>
            <a:ext cx="1873600" cy="17369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D9616-F7E2-FF6A-6B44-86FA9CC7A0F0}"/>
              </a:ext>
            </a:extLst>
          </p:cNvPr>
          <p:cNvSpPr txBox="1"/>
          <p:nvPr/>
        </p:nvSpPr>
        <p:spPr>
          <a:xfrm>
            <a:off x="2604824" y="3648075"/>
            <a:ext cx="74295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規則正しい睡眠習慣を身につけたい学生・社会人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起床が苦手で、繰り返しアラームが必要な人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室内の温度・湿度管理を手動で行うことが面倒な人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複雑な機器操作を行わず、LINEだけで生活環境を整えたい人</a:t>
            </a:r>
            <a:endParaRPr kumimoji="1" lang="ja-JP" altLang="en-US" sz="2400" dirty="0"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862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831FAF1-B9DA-3ABF-E543-DDAB9276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374" y="144565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設計</a:t>
            </a:r>
          </a:p>
        </p:txBody>
      </p:sp>
    </p:spTree>
    <p:extLst>
      <p:ext uri="{BB962C8B-B14F-4D97-AF65-F5344CB8AC3E}">
        <p14:creationId xmlns:p14="http://schemas.microsoft.com/office/powerpoint/2010/main" val="64622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E363DD3-5073-FA1C-2921-92602359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システム処理の流れ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7016CDB-5BA1-1432-38EC-534D4BE9CA4D}"/>
              </a:ext>
            </a:extLst>
          </p:cNvPr>
          <p:cNvSpPr txBox="1"/>
          <p:nvPr/>
        </p:nvSpPr>
        <p:spPr>
          <a:xfrm>
            <a:off x="927023" y="2556956"/>
            <a:ext cx="220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LINE </a:t>
            </a:r>
            <a:r>
              <a:rPr kumimoji="1" lang="ja-JP" altLang="en-US"/>
              <a:t>で時刻を設定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C11B868-4BDA-0A7F-0AB2-C355070A7358}"/>
              </a:ext>
            </a:extLst>
          </p:cNvPr>
          <p:cNvSpPr txBox="1"/>
          <p:nvPr/>
        </p:nvSpPr>
        <p:spPr>
          <a:xfrm>
            <a:off x="1067009" y="3516397"/>
            <a:ext cx="238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就寝時間に照明を</a:t>
            </a:r>
            <a:endParaRPr kumimoji="1" lang="en-US" altLang="ja-JP"/>
          </a:p>
          <a:p>
            <a:r>
              <a:rPr kumimoji="1" lang="ja-JP" altLang="en-US"/>
              <a:t>段階的に暗くする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68A9E05-3C30-568C-50CC-C04AF24E62FA}"/>
              </a:ext>
            </a:extLst>
          </p:cNvPr>
          <p:cNvSpPr txBox="1"/>
          <p:nvPr/>
        </p:nvSpPr>
        <p:spPr>
          <a:xfrm>
            <a:off x="1173072" y="4799547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エアコンを</a:t>
            </a:r>
            <a:endParaRPr kumimoji="1" lang="en-US" altLang="ja-JP"/>
          </a:p>
          <a:p>
            <a:r>
              <a:rPr kumimoji="1" lang="ja-JP" altLang="en-US"/>
              <a:t>快適温度に設定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A504F9F-700C-D832-6D83-BF43743D2393}"/>
              </a:ext>
            </a:extLst>
          </p:cNvPr>
          <p:cNvSpPr txBox="1"/>
          <p:nvPr/>
        </p:nvSpPr>
        <p:spPr>
          <a:xfrm>
            <a:off x="903899" y="6213407"/>
            <a:ext cx="248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就寝時刻をログに保存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86C3117-FBFD-4526-F141-A5EACAF308C5}"/>
              </a:ext>
            </a:extLst>
          </p:cNvPr>
          <p:cNvSpPr txBox="1"/>
          <p:nvPr/>
        </p:nvSpPr>
        <p:spPr>
          <a:xfrm>
            <a:off x="1387385" y="1840033"/>
            <a:ext cx="1690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/>
              <a:t>就寝前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3CB5F39-43A2-1054-DDD0-0E49752C6204}"/>
              </a:ext>
            </a:extLst>
          </p:cNvPr>
          <p:cNvCxnSpPr>
            <a:cxnSpLocks/>
          </p:cNvCxnSpPr>
          <p:nvPr/>
        </p:nvCxnSpPr>
        <p:spPr>
          <a:xfrm>
            <a:off x="4231240" y="1581875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D541626-49A3-37C4-937F-5DE6878F6FFE}"/>
              </a:ext>
            </a:extLst>
          </p:cNvPr>
          <p:cNvSpPr txBox="1"/>
          <p:nvPr/>
        </p:nvSpPr>
        <p:spPr>
          <a:xfrm>
            <a:off x="5202172" y="1840033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/>
              <a:t>睡眠中</a:t>
            </a:r>
            <a:endParaRPr kumimoji="1" lang="ja-JP" altLang="en-US" sz="2800" b="1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79A3EF0B-8FBA-544C-F623-5B9481424939}"/>
              </a:ext>
            </a:extLst>
          </p:cNvPr>
          <p:cNvCxnSpPr>
            <a:cxnSpLocks/>
          </p:cNvCxnSpPr>
          <p:nvPr/>
        </p:nvCxnSpPr>
        <p:spPr>
          <a:xfrm>
            <a:off x="7997858" y="1563808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9C3FA32-C31D-3ED4-C4FC-5F492D496678}"/>
              </a:ext>
            </a:extLst>
          </p:cNvPr>
          <p:cNvSpPr txBox="1"/>
          <p:nvPr/>
        </p:nvSpPr>
        <p:spPr>
          <a:xfrm>
            <a:off x="5104061" y="2562611"/>
            <a:ext cx="223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５分ごとに</a:t>
            </a:r>
            <a:endParaRPr kumimoji="1" lang="en-US" altLang="ja-JP"/>
          </a:p>
          <a:p>
            <a:r>
              <a:rPr kumimoji="1" lang="ja-JP" altLang="en-US"/>
              <a:t>温度・湿度を取得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73A0603-3936-5C8C-908E-124C59B87778}"/>
              </a:ext>
            </a:extLst>
          </p:cNvPr>
          <p:cNvSpPr txBox="1"/>
          <p:nvPr/>
        </p:nvSpPr>
        <p:spPr>
          <a:xfrm>
            <a:off x="5104061" y="3981454"/>
            <a:ext cx="215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基準値と比較して環境を判定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3F80699-A558-2F1A-2784-ACB5F4438119}"/>
              </a:ext>
            </a:extLst>
          </p:cNvPr>
          <p:cNvSpPr txBox="1"/>
          <p:nvPr/>
        </p:nvSpPr>
        <p:spPr>
          <a:xfrm>
            <a:off x="5104088" y="5567076"/>
            <a:ext cx="232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必要に応じて</a:t>
            </a:r>
            <a:endParaRPr kumimoji="1" lang="en-US" altLang="ja-JP"/>
          </a:p>
          <a:p>
            <a:r>
              <a:rPr kumimoji="1" lang="ja-JP" altLang="en-US"/>
              <a:t>エアコンを制御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0ECB45D-5226-63AD-6E9F-AC48A1F1D37A}"/>
              </a:ext>
            </a:extLst>
          </p:cNvPr>
          <p:cNvSpPr txBox="1"/>
          <p:nvPr/>
        </p:nvSpPr>
        <p:spPr>
          <a:xfrm>
            <a:off x="9304933" y="1837221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/>
              <a:t>起床時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26F9F34-431D-14BB-1986-B7B91B0C35C4}"/>
              </a:ext>
            </a:extLst>
          </p:cNvPr>
          <p:cNvSpPr txBox="1"/>
          <p:nvPr/>
        </p:nvSpPr>
        <p:spPr>
          <a:xfrm>
            <a:off x="8589557" y="2342532"/>
            <a:ext cx="30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起床時刻の一定時刻前から照明を段階的に明るくする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9753F8A-6DA4-CFE7-4982-73626780478E}"/>
              </a:ext>
            </a:extLst>
          </p:cNvPr>
          <p:cNvSpPr txBox="1"/>
          <p:nvPr/>
        </p:nvSpPr>
        <p:spPr>
          <a:xfrm>
            <a:off x="9027738" y="3418335"/>
            <a:ext cx="230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起床時刻になると</a:t>
            </a:r>
            <a:endParaRPr kumimoji="1" lang="en-US" altLang="ja-JP"/>
          </a:p>
          <a:p>
            <a:r>
              <a:rPr kumimoji="1" lang="ja-JP" altLang="en-US"/>
              <a:t>アラーム通知を送信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B6B7B69-79E4-1B63-4CC0-40135604FB2F}"/>
              </a:ext>
            </a:extLst>
          </p:cNvPr>
          <p:cNvSpPr txBox="1"/>
          <p:nvPr/>
        </p:nvSpPr>
        <p:spPr>
          <a:xfrm>
            <a:off x="8361911" y="4519280"/>
            <a:ext cx="366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ユーザーが停止するまで繰り返す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74CACEE-FBD6-6559-1D81-6C02715CC045}"/>
              </a:ext>
            </a:extLst>
          </p:cNvPr>
          <p:cNvSpPr txBox="1"/>
          <p:nvPr/>
        </p:nvSpPr>
        <p:spPr>
          <a:xfrm>
            <a:off x="8246694" y="5368338"/>
            <a:ext cx="39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天気・カレンダー</a:t>
            </a:r>
            <a:r>
              <a:rPr lang="ja-JP" altLang="en-US"/>
              <a:t>・</a:t>
            </a:r>
            <a:r>
              <a:rPr kumimoji="1" lang="ja-JP" altLang="en-US"/>
              <a:t>睡眠アドバイス　　　　　　　　　</a:t>
            </a:r>
            <a:endParaRPr kumimoji="1" lang="en-US" altLang="ja-JP"/>
          </a:p>
          <a:p>
            <a:r>
              <a:rPr lang="ja-JP" altLang="en-US"/>
              <a:t>　　　　　　　　　　　　　</a:t>
            </a:r>
            <a:r>
              <a:rPr kumimoji="1" lang="ja-JP" altLang="en-US"/>
              <a:t>を通知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B16CEA9-F84E-2239-81E1-59CF9DB5FCE4}"/>
              </a:ext>
            </a:extLst>
          </p:cNvPr>
          <p:cNvSpPr txBox="1"/>
          <p:nvPr/>
        </p:nvSpPr>
        <p:spPr>
          <a:xfrm>
            <a:off x="8916417" y="6252560"/>
            <a:ext cx="253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起床時刻をログに保存</a:t>
            </a:r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A0828D69-B687-3DEF-FC90-D2333B5EABA4}"/>
              </a:ext>
            </a:extLst>
          </p:cNvPr>
          <p:cNvSpPr/>
          <p:nvPr/>
        </p:nvSpPr>
        <p:spPr>
          <a:xfrm>
            <a:off x="1807617" y="3062256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矢印: 下 75">
            <a:extLst>
              <a:ext uri="{FF2B5EF4-FFF2-40B4-BE49-F238E27FC236}">
                <a16:creationId xmlns:a16="http://schemas.microsoft.com/office/drawing/2014/main" id="{FA6986D7-607D-A8B6-5A30-45F9DE5F544D}"/>
              </a:ext>
            </a:extLst>
          </p:cNvPr>
          <p:cNvSpPr/>
          <p:nvPr/>
        </p:nvSpPr>
        <p:spPr>
          <a:xfrm>
            <a:off x="1807617" y="425373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矢印: 下 77">
            <a:extLst>
              <a:ext uri="{FF2B5EF4-FFF2-40B4-BE49-F238E27FC236}">
                <a16:creationId xmlns:a16="http://schemas.microsoft.com/office/drawing/2014/main" id="{43A60535-6E40-279B-1338-9B2AF41F1E69}"/>
              </a:ext>
            </a:extLst>
          </p:cNvPr>
          <p:cNvSpPr/>
          <p:nvPr/>
        </p:nvSpPr>
        <p:spPr>
          <a:xfrm>
            <a:off x="1807617" y="559572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4AA7BAAD-5D3C-3489-F236-8CDE1452EE7D}"/>
              </a:ext>
            </a:extLst>
          </p:cNvPr>
          <p:cNvSpPr/>
          <p:nvPr/>
        </p:nvSpPr>
        <p:spPr>
          <a:xfrm>
            <a:off x="5820852" y="489047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矢印: 下 81">
            <a:extLst>
              <a:ext uri="{FF2B5EF4-FFF2-40B4-BE49-F238E27FC236}">
                <a16:creationId xmlns:a16="http://schemas.microsoft.com/office/drawing/2014/main" id="{19B0BA2C-DD27-5D49-9518-74D3847BCAD8}"/>
              </a:ext>
            </a:extLst>
          </p:cNvPr>
          <p:cNvSpPr/>
          <p:nvPr/>
        </p:nvSpPr>
        <p:spPr>
          <a:xfrm>
            <a:off x="5812634" y="330484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矢印: 下 83">
            <a:extLst>
              <a:ext uri="{FF2B5EF4-FFF2-40B4-BE49-F238E27FC236}">
                <a16:creationId xmlns:a16="http://schemas.microsoft.com/office/drawing/2014/main" id="{24216DAD-497D-8745-84CC-49500A05435B}"/>
              </a:ext>
            </a:extLst>
          </p:cNvPr>
          <p:cNvSpPr/>
          <p:nvPr/>
        </p:nvSpPr>
        <p:spPr>
          <a:xfrm>
            <a:off x="9933591" y="5790895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矢印: 下 85">
            <a:extLst>
              <a:ext uri="{FF2B5EF4-FFF2-40B4-BE49-F238E27FC236}">
                <a16:creationId xmlns:a16="http://schemas.microsoft.com/office/drawing/2014/main" id="{52C34F6D-101D-E45B-A0FF-CA13ADE71E04}"/>
              </a:ext>
            </a:extLst>
          </p:cNvPr>
          <p:cNvSpPr/>
          <p:nvPr/>
        </p:nvSpPr>
        <p:spPr>
          <a:xfrm>
            <a:off x="9933591" y="493048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矢印: 下 87">
            <a:extLst>
              <a:ext uri="{FF2B5EF4-FFF2-40B4-BE49-F238E27FC236}">
                <a16:creationId xmlns:a16="http://schemas.microsoft.com/office/drawing/2014/main" id="{488D54E3-D162-364B-0E50-F89EA9114113}"/>
              </a:ext>
            </a:extLst>
          </p:cNvPr>
          <p:cNvSpPr/>
          <p:nvPr/>
        </p:nvSpPr>
        <p:spPr>
          <a:xfrm>
            <a:off x="9939309" y="409046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矢印: 下 89">
            <a:extLst>
              <a:ext uri="{FF2B5EF4-FFF2-40B4-BE49-F238E27FC236}">
                <a16:creationId xmlns:a16="http://schemas.microsoft.com/office/drawing/2014/main" id="{778516FC-EB6A-C6B3-9804-7CE3C75BDEA9}"/>
              </a:ext>
            </a:extLst>
          </p:cNvPr>
          <p:cNvSpPr/>
          <p:nvPr/>
        </p:nvSpPr>
        <p:spPr>
          <a:xfrm>
            <a:off x="9939309" y="3039253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32E20825-ECEC-8559-FAA2-CEC37C67959D}"/>
              </a:ext>
            </a:extLst>
          </p:cNvPr>
          <p:cNvSpPr/>
          <p:nvPr/>
        </p:nvSpPr>
        <p:spPr>
          <a:xfrm>
            <a:off x="3751567" y="3333055"/>
            <a:ext cx="1205556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就寝</a:t>
            </a:r>
          </a:p>
        </p:txBody>
      </p:sp>
      <p:sp>
        <p:nvSpPr>
          <p:cNvPr id="95" name="矢印: 右 94">
            <a:extLst>
              <a:ext uri="{FF2B5EF4-FFF2-40B4-BE49-F238E27FC236}">
                <a16:creationId xmlns:a16="http://schemas.microsoft.com/office/drawing/2014/main" id="{B356CE4D-2B2C-DFA1-299D-D57455F97BB9}"/>
              </a:ext>
            </a:extLst>
          </p:cNvPr>
          <p:cNvSpPr/>
          <p:nvPr/>
        </p:nvSpPr>
        <p:spPr>
          <a:xfrm>
            <a:off x="7428188" y="3342883"/>
            <a:ext cx="1397848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睡眠後</a:t>
            </a:r>
          </a:p>
        </p:txBody>
      </p:sp>
    </p:spTree>
    <p:extLst>
      <p:ext uri="{BB962C8B-B14F-4D97-AF65-F5344CB8AC3E}">
        <p14:creationId xmlns:p14="http://schemas.microsoft.com/office/powerpoint/2010/main" val="121783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1C85B9-F122-CF29-7D87-D859633D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必要なモジュール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71728B-CD5F-B7A7-3823-AF36F80D6C60}"/>
              </a:ext>
            </a:extLst>
          </p:cNvPr>
          <p:cNvSpPr txBox="1"/>
          <p:nvPr/>
        </p:nvSpPr>
        <p:spPr>
          <a:xfrm>
            <a:off x="2323575" y="1800962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従来から継続するもの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1F7226-1C69-E524-B3A1-69C56FCF4935}"/>
              </a:ext>
            </a:extLst>
          </p:cNvPr>
          <p:cNvSpPr txBox="1"/>
          <p:nvPr/>
        </p:nvSpPr>
        <p:spPr>
          <a:xfrm>
            <a:off x="2323575" y="3079604"/>
            <a:ext cx="3190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今回新たに追加するもの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12429F-4F5C-C981-59B8-F7DDC1771767}"/>
              </a:ext>
            </a:extLst>
          </p:cNvPr>
          <p:cNvSpPr txBox="1"/>
          <p:nvPr/>
        </p:nvSpPr>
        <p:spPr>
          <a:xfrm>
            <a:off x="3009375" y="2201072"/>
            <a:ext cx="584835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スプレッドシート管理プログラム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1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Nature Remo 3データ取得プログラム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D00484-F516-D252-81A9-8F351FD912C3}"/>
              </a:ext>
            </a:extLst>
          </p:cNvPr>
          <p:cNvSpPr txBox="1"/>
          <p:nvPr/>
        </p:nvSpPr>
        <p:spPr>
          <a:xfrm>
            <a:off x="3009375" y="3593418"/>
            <a:ext cx="825817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LINE Bot管理プログラム（Messaging APIとの通信・通知送信）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環境監視プログラム（センサデータ分析・制御判断</a:t>
            </a:r>
            <a:r>
              <a:rPr lang="ja-JP" altLang="en-US"/>
              <a:t>）</a:t>
            </a:r>
            <a:endParaRPr lang="en-US" altLang="ja-JP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家電制御プログラム（エアコン・照明操作）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アラーム管理プログラム（繰り返し通知・停止確認）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天気情報取得プログラム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Googleカレンダー連携プログラム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睡眠分析プログラム（履歴分析・アドバイス生成）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08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921A32D-1660-7B7D-C8C5-FA5975B5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24" y="1544731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プロジェクト計画</a:t>
            </a:r>
          </a:p>
        </p:txBody>
      </p:sp>
    </p:spTree>
    <p:extLst>
      <p:ext uri="{BB962C8B-B14F-4D97-AF65-F5344CB8AC3E}">
        <p14:creationId xmlns:p14="http://schemas.microsoft.com/office/powerpoint/2010/main" val="36347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8912B94-915F-4904-A08E-72E1C64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開発体制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EFFF45B-8FD6-EBD8-F7C7-1F11F9ACD4DD}"/>
              </a:ext>
            </a:extLst>
          </p:cNvPr>
          <p:cNvSpPr/>
          <p:nvPr/>
        </p:nvSpPr>
        <p:spPr>
          <a:xfrm>
            <a:off x="3593072" y="2447924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資料責任者：園田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9CBDA0F6-BE07-E8E0-AE86-FDE90CC836FF}"/>
              </a:ext>
            </a:extLst>
          </p:cNvPr>
          <p:cNvSpPr/>
          <p:nvPr/>
        </p:nvSpPr>
        <p:spPr>
          <a:xfrm>
            <a:off x="3593074" y="5320851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開発文書責任者：鈴木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B70E977-6F24-5B19-0406-F0DB36F3DFE2}"/>
              </a:ext>
            </a:extLst>
          </p:cNvPr>
          <p:cNvSpPr/>
          <p:nvPr/>
        </p:nvSpPr>
        <p:spPr>
          <a:xfrm>
            <a:off x="3593075" y="3884388"/>
            <a:ext cx="3198252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プログラム責任者：土屋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C6067E1-4C15-6BBC-A2C3-1217D23FB2CB}"/>
              </a:ext>
            </a:extLst>
          </p:cNvPr>
          <p:cNvSpPr/>
          <p:nvPr/>
        </p:nvSpPr>
        <p:spPr>
          <a:xfrm>
            <a:off x="459350" y="3884388"/>
            <a:ext cx="2131546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tx1"/>
                </a:solidFill>
              </a:rPr>
              <a:t>リーダー</a:t>
            </a:r>
            <a:r>
              <a:rPr kumimoji="1" lang="ja-JP" altLang="en-US" sz="2000" b="1">
                <a:solidFill>
                  <a:schemeClr val="tx1"/>
                </a:solidFill>
              </a:rPr>
              <a:t>：土屋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9F06FFB9-D409-7A56-8BD3-357DE042C506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3067048" y="2673012"/>
            <a:ext cx="526024" cy="28729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7552C99-8C69-5657-9C63-E8636C07594D}"/>
              </a:ext>
            </a:extLst>
          </p:cNvPr>
          <p:cNvCxnSpPr>
            <a:stCxn id="32" idx="3"/>
            <a:endCxn id="30" idx="1"/>
          </p:cNvCxnSpPr>
          <p:nvPr/>
        </p:nvCxnSpPr>
        <p:spPr>
          <a:xfrm>
            <a:off x="2590896" y="4109476"/>
            <a:ext cx="10021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32AF3CA-92AD-7B07-D03F-9945BD1D19B8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3067048" y="5545938"/>
            <a:ext cx="52602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57C16C8-FA81-DCA5-29A1-48EFF7388F9D}"/>
              </a:ext>
            </a:extLst>
          </p:cNvPr>
          <p:cNvSpPr txBox="1"/>
          <p:nvPr/>
        </p:nvSpPr>
        <p:spPr>
          <a:xfrm>
            <a:off x="6924675" y="2484122"/>
            <a:ext cx="388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中間発表、成果発表資料の管理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84D41C5-98C1-3617-EE00-750ED1E8B5AE}"/>
              </a:ext>
            </a:extLst>
          </p:cNvPr>
          <p:cNvSpPr txBox="1"/>
          <p:nvPr/>
        </p:nvSpPr>
        <p:spPr>
          <a:xfrm>
            <a:off x="6924675" y="3924809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各モジュールの管理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1C3686B-97C3-0213-1B04-B47138545BE0}"/>
              </a:ext>
            </a:extLst>
          </p:cNvPr>
          <p:cNvSpPr txBox="1"/>
          <p:nvPr/>
        </p:nvSpPr>
        <p:spPr>
          <a:xfrm>
            <a:off x="6924675" y="5355326"/>
            <a:ext cx="513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要求書、設計書、プロジェクト計画書管理</a:t>
            </a:r>
          </a:p>
        </p:txBody>
      </p:sp>
    </p:spTree>
    <p:extLst>
      <p:ext uri="{BB962C8B-B14F-4D97-AF65-F5344CB8AC3E}">
        <p14:creationId xmlns:p14="http://schemas.microsoft.com/office/powerpoint/2010/main" val="80940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C2B588-18FE-0659-980D-5AD74BCF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</a:t>
            </a:r>
            <a:r>
              <a:rPr lang="ja-JP" altLang="en-US" b="1">
                <a:solidFill>
                  <a:srgbClr val="FFFFFF"/>
                </a:solidFill>
              </a:rPr>
              <a:t>１</a:t>
            </a:r>
            <a:endParaRPr kumimoji="1" lang="ja-JP" altLang="en-US" b="1">
              <a:solidFill>
                <a:srgbClr val="FFFFFF"/>
              </a:solidFill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D423258-9771-5EE7-4A12-E45A37284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07940"/>
              </p:ext>
            </p:extLst>
          </p:nvPr>
        </p:nvGraphicFramePr>
        <p:xfrm>
          <a:off x="1075264" y="2522818"/>
          <a:ext cx="10041468" cy="393192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14246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659440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267147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267147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2937190243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タスク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6/10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6/24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7/1  3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7/1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7/8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72983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要求仕様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設計の見直し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en-US" altLang="ja-JP"/>
                        <a:t>LINE</a:t>
                      </a:r>
                      <a:r>
                        <a:rPr kumimoji="1" lang="ja-JP" altLang="en-US"/>
                        <a:t> </a:t>
                      </a:r>
                      <a:r>
                        <a:rPr kumimoji="1" lang="en-US" altLang="ja-JP"/>
                        <a:t>Bot</a:t>
                      </a:r>
                      <a:r>
                        <a:rPr kumimoji="1" lang="ja-JP" altLang="en-US"/>
                        <a:t>管理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スプレッドシート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管理プログラム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Nature Remo</a:t>
                      </a:r>
                    </a:p>
                    <a:p>
                      <a:r>
                        <a:rPr kumimoji="1" lang="ja-JP" altLang="en-US" dirty="0"/>
                        <a:t>データ取得プログラム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  <a:endParaRPr kumimoji="1" lang="en-US" altLang="ja-JP"/>
                    </a:p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環境監視プログラム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睡眠分析プログラム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1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13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8104E-1982-E6DA-9BAF-498A977C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956FF9-F93C-18FC-6848-5A0C44D3A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1796F-7F2B-DC59-1158-15AF31A4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38A309-E7BC-C1FA-7BA1-D6BA16EF5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9E61F3-B7C9-9EF0-2878-BECF4ABA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A7450-F9BA-CE08-B124-A6279721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DFC220-1B0B-B8D1-B9F4-D0507D87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開発スケジュール２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5F4DA295-D42E-9417-803C-0FC07875E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330186"/>
              </p:ext>
            </p:extLst>
          </p:nvPr>
        </p:nvGraphicFramePr>
        <p:xfrm>
          <a:off x="1075264" y="2050972"/>
          <a:ext cx="10041468" cy="4353488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14244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660279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264335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269566">
                  <a:extLst>
                    <a:ext uri="{9D8B030D-6E8A-4147-A177-3AD203B41FA5}">
                      <a16:colId xmlns:a16="http://schemas.microsoft.com/office/drawing/2014/main" val="2967710253"/>
                    </a:ext>
                  </a:extLst>
                </a:gridCol>
                <a:gridCol w="1133587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132280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132280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134897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53973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タスク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6/4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6/24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 3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 3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91088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家電制御プログラム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園田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4727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アラーム管理プログラム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4727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天気情報取得プログラム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827396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Google</a:t>
                      </a:r>
                      <a:r>
                        <a:rPr kumimoji="1" lang="ja-JP" altLang="en-US" dirty="0"/>
                        <a:t>カレンダー連携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システムテスト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成果発表資料作成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64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27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545</Words>
  <Application>Microsoft Office PowerPoint</Application>
  <PresentationFormat>ワイド画面</PresentationFormat>
  <Paragraphs>140</Paragraphs>
  <Slides>12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UDPゴシック</vt:lpstr>
      <vt:lpstr>BIZ UDゴシック</vt:lpstr>
      <vt:lpstr>游ゴシック</vt:lpstr>
      <vt:lpstr>游ゴシック Light</vt:lpstr>
      <vt:lpstr>Arial</vt:lpstr>
      <vt:lpstr>Office テーマ</vt:lpstr>
      <vt:lpstr>PowerPoint プレゼンテーション</vt:lpstr>
      <vt:lpstr>要求仕様</vt:lpstr>
      <vt:lpstr>システムの概要</vt:lpstr>
      <vt:lpstr>要求仕様</vt:lpstr>
      <vt:lpstr>想定する利用者</vt:lpstr>
      <vt:lpstr>設計</vt:lpstr>
      <vt:lpstr>システム処理の流れ</vt:lpstr>
      <vt:lpstr>必要なモジュール</vt:lpstr>
      <vt:lpstr>プロジェクト計画</vt:lpstr>
      <vt:lpstr>開発体制</vt:lpstr>
      <vt:lpstr>開発スケジュール１</vt:lpstr>
      <vt:lpstr>開発スケジュール２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 玖孟(is0830vk)</dc:creator>
  <cp:lastModifiedBy>園田 銀志郎(is0831xi)</cp:lastModifiedBy>
  <cp:revision>2</cp:revision>
  <dcterms:created xsi:type="dcterms:W3CDTF">2026-06-10T06:29:24Z</dcterms:created>
  <dcterms:modified xsi:type="dcterms:W3CDTF">2026-06-16T15:13:48Z</dcterms:modified>
</cp:coreProperties>
</file>